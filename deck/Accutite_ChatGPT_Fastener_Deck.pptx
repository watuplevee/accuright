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7EF0FF"/>
                </a:solidFill>
                <a:latin typeface="Calibri"/>
              </a:rPr>
              <a:t>ACCUTITE FASTENERS,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589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How to Use ChatGPT in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589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9A7BFF"/>
                </a:solidFill>
                <a:latin typeface="Calibri"/>
              </a:rPr>
              <a:t>Fastener Industry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097280" cy="508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Levee Hedrick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EA0D6"/>
                </a:solidFill>
                <a:latin typeface="Calibri"/>
              </a:rPr>
              <a:t>MATERIAL CONTROL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05840"/>
            <a:ext cx="3291840" cy="4754880"/>
          </a:xfrm>
          <a:prstGeom prst="roundRect">
            <a:avLst/>
          </a:prstGeom>
          <a:gradFill flip="none" rotWithShape="1">
            <a:gsLst>
              <a:gs pos="0">
                <a:srgbClr val="0C1230"/>
              </a:gs>
              <a:gs pos="100000">
                <a:srgbClr val="04060F"/>
              </a:gs>
            </a:gsLst>
            <a:lin ang="8100000" scaled="0"/>
          </a:gradFill>
          <a:ln w="15875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0" y="548640"/>
            <a:ext cx="2962656" cy="2962656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46336" y="3621024"/>
            <a:ext cx="2633472" cy="2633472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70264" y="1861718"/>
            <a:ext cx="1810512" cy="1810512"/>
          </a:xfrm>
          <a:prstGeom prst="roundRect">
            <a:avLst/>
          </a:prstGeom>
          <a:gradFill flip="none" rotWithShape="1">
            <a:gsLst>
              <a:gs pos="0">
                <a:srgbClr val="121A44"/>
              </a:gs>
              <a:gs pos="100000">
                <a:srgbClr val="04060F"/>
              </a:gs>
            </a:gsLst>
            <a:lin ang="8100000" scaled="0"/>
          </a:gra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0264" y="1861718"/>
            <a:ext cx="1810512" cy="181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0" b="1" i="0" spc="100">
                <a:solidFill>
                  <a:srgbClr val="FFFFFF"/>
                </a:solidFill>
                <a:latin typeface="Calibri"/>
              </a:rPr>
              <a:t>LH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385511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03799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LEVEE HEDRICK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40375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400">
                <a:solidFill>
                  <a:srgbClr val="7EF0FF"/>
                </a:solidFill>
                <a:latin typeface="Calibri"/>
              </a:rPr>
              <a:t>MATERIAL CONTROL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6951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 spc="300">
                <a:solidFill>
                  <a:srgbClr val="8EA0D6"/>
                </a:solidFill>
                <a:latin typeface="Calibri"/>
              </a:rPr>
              <a:t>Accutite Fasteners, Inc.</a:t>
            </a:r>
          </a:p>
        </p:txBody>
      </p:sp>
      <p:sp>
        <p:nvSpPr>
          <p:cNvPr id="19" name="Block Arc 18"/>
          <p:cNvSpPr/>
          <p:nvPr/>
        </p:nvSpPr>
        <p:spPr>
          <a:xfrm>
            <a:off x="1225296" y="5989320"/>
            <a:ext cx="1207008" cy="603504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2371953" y="6079845"/>
            <a:ext cx="132770" cy="132770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3854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01 •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New Operating System for Fastener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ChatGPT is a daily work amplifier for the fastener industry.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Focus on speed, consistency, and better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Shift from casual use to disciplined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02 /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02 •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Why This Matters at Accutite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AI understanding is inconsistent across the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Standardization matters more than random LLM experimentation.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Paid accounts should create measurable operational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03 /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03 • SURFACE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Where ChatGPT Fits in Our Daily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74320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2743200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Quotes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6944" y="2743200"/>
            <a:ext cx="1755648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2743200"/>
            <a:ext cx="175564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PDFs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2743200"/>
            <a:ext cx="2414015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743200"/>
            <a:ext cx="24140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Drawings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Blueprints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749040"/>
            <a:ext cx="3895344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749040"/>
            <a:ext cx="38953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Quality 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047488" cy="731520"/>
          </a:xfrm>
          <a:prstGeom prst="roundRect">
            <a:avLst>
              <a:gd name="adj" fmla="val 50000"/>
            </a:avLst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50474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Purchasing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04 /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6" name="Block Arc 25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04 • DEPARTMENT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Purchasing Department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7180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Supplier email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97180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Quote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PDF data extraction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66344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Supplier follow-up drafting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05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8" name="Block Arc 27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05 • DEPARTMENT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Quality Department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7180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Summarize inspection and corrective action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97180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Review drawings and blueprint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Compare document versions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5349240" cy="14630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7EF0FF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663440"/>
            <a:ext cx="45720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Generate action checklists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06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8" name="Block Arc 27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06 • TECHNICAL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Working with Drawings, Blueprints, and PDFs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Summarize technical documents at a glance.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Extract revision notes and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Support triage before expert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914400" y="484632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Preserve human technical authority.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07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4" name="Block Arc 23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07 •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From Reports to KPIs Without ERP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Analyze exported reports directly in ChatGPT.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Summarize KPI trends across periods.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Detect exceptions and outliers.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914400" y="484632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Create management-ready insights.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08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4" name="Block Arc 23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08 •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Prompt Engineering for the Fastener Industry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Define role, task, context, format, and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Use repeatable prompting frameworks.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Emphasize quality and consistency over cleverness.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09 /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09 • LIVE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Real Example — Quote Review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3657600"/>
          </a:xfrm>
          <a:prstGeom prst="roundRect">
            <a:avLst/>
          </a:prstGeom>
          <a:solidFill>
            <a:srgbClr val="04060F"/>
          </a:solidFill>
          <a:ln w="12700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06040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2606040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606040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9814255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7EF0FF"/>
                </a:solidFill>
                <a:latin typeface="Consolas"/>
              </a:rPr>
              <a:t>Role:   Senior Purchasing Analyst</a:t>
            </a:r>
          </a:p>
          <a:p>
            <a:pPr algn="l">
              <a:lnSpc>
                <a:spcPct val="135000"/>
              </a:lnSpc>
            </a:pPr>
            <a:r>
              <a:rPr sz="1800" b="1">
                <a:solidFill>
                  <a:srgbClr val="7EF0FF"/>
                </a:solidFill>
                <a:latin typeface="Consolas"/>
              </a:rPr>
              <a:t>Task:   Review attached supplier quote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9D4F5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1">
                <a:solidFill>
                  <a:srgbClr val="7EF0FF"/>
                </a:solidFill>
                <a:latin typeface="Consolas"/>
              </a:rPr>
              <a:t>Output: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9D4F5"/>
                </a:solidFill>
                <a:latin typeface="Consolas"/>
              </a:rPr>
              <a:t>  - Pricing changes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9D4F5"/>
                </a:solidFill>
                <a:latin typeface="Consolas"/>
              </a:rPr>
              <a:t>  - Lead time risks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9D4F5"/>
                </a:solidFill>
                <a:latin typeface="Consolas"/>
              </a:rPr>
              <a:t>  - Missing information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9D4F5"/>
                </a:solidFill>
                <a:latin typeface="Consolas"/>
              </a:rPr>
              <a:t>  - Recommended next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10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17" name="Block Arc 16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10 • BUILD ONCE,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Building GPT Agents and Reusable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349240" cy="23774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400">
                <a:solidFill>
                  <a:srgbClr val="7EF0FF"/>
                </a:solidFill>
                <a:latin typeface="Calibri"/>
              </a:rPr>
              <a:t>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200400"/>
            <a:ext cx="73152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Task-specific helpers tuned for a single recurring job.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349240" cy="237744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974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400">
                <a:solidFill>
                  <a:srgbClr val="7EF0FF"/>
                </a:solidFill>
                <a:latin typeface="Calibri"/>
              </a:rPr>
              <a:t>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200400"/>
            <a:ext cx="73152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Reusable workflow playbooks applied across many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11535" cy="685800"/>
          </a:xfrm>
          <a:prstGeom prst="roundRect">
            <a:avLst/>
          </a:prstGeom>
          <a:solidFill>
            <a:srgbClr val="0C1230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 spc="200">
                <a:solidFill>
                  <a:srgbClr val="FFFFFF"/>
                </a:solidFill>
                <a:latin typeface="Calibri"/>
              </a:rPr>
              <a:t>Quote review   •   PDF extraction   •   Quality 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11 /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2" name="Block Arc 21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7315200" cy="91440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2743200"/>
            <a:ext cx="7315200" cy="64008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840480" cy="5029200"/>
          </a:xfrm>
          <a:prstGeom prst="roundRect">
            <a:avLst/>
          </a:prstGeom>
          <a:gradFill flip="none" rotWithShape="1">
            <a:gsLst>
              <a:gs pos="0">
                <a:srgbClr val="0C1230"/>
              </a:gs>
              <a:gs pos="100000">
                <a:srgbClr val="04060F"/>
              </a:gs>
            </a:gsLst>
            <a:lin ang="8100000" scaled="0"/>
          </a:gradFill>
          <a:ln w="15875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" y="457200"/>
            <a:ext cx="3456432" cy="3456432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76272" y="3680460"/>
            <a:ext cx="3072384" cy="3072384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4188" y="1819656"/>
            <a:ext cx="2112264" cy="2112264"/>
          </a:xfrm>
          <a:prstGeom prst="roundRect">
            <a:avLst/>
          </a:prstGeom>
          <a:gradFill flip="none" rotWithShape="1">
            <a:gsLst>
              <a:gs pos="0">
                <a:srgbClr val="121A44"/>
              </a:gs>
              <a:gs pos="100000">
                <a:srgbClr val="04060F"/>
              </a:gs>
            </a:gsLst>
            <a:lin ang="8100000" scaled="0"/>
          </a:gra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4188" y="1819656"/>
            <a:ext cx="2112264" cy="2112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0" b="1" i="0" spc="100">
                <a:solidFill>
                  <a:srgbClr val="FFFFFF"/>
                </a:solidFill>
                <a:latin typeface="Calibri"/>
              </a:rPr>
              <a:t>LH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0260" y="4114800"/>
            <a:ext cx="96012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LEVEE HEDRICK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400">
                <a:solidFill>
                  <a:srgbClr val="7EF0FF"/>
                </a:solidFill>
                <a:latin typeface="Calibri"/>
              </a:rPr>
              <a:t>MATERIAL CONTROL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 spc="300">
                <a:solidFill>
                  <a:srgbClr val="8EA0D6"/>
                </a:solidFill>
                <a:latin typeface="Calibri"/>
              </a:rPr>
              <a:t>Leading Purchasing &amp; Quality AI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2860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PART TWO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8892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Operationalizing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61188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9A7BFF"/>
                </a:solidFill>
                <a:latin typeface="Calibri"/>
              </a:rPr>
              <a:t>at Accutite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617720"/>
            <a:ext cx="1188720" cy="508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754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EA0D6"/>
                </a:solidFill>
                <a:latin typeface="Calibri"/>
              </a:rPr>
              <a:t>FROM AWARENESS TO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 spc="500">
                <a:solidFill>
                  <a:srgbClr val="5D6EA8"/>
                </a:solidFill>
                <a:latin typeface="Calibri"/>
              </a:rPr>
              <a:t>ACCUTITE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11 •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Automation Roadmap: Start Small, Win Fast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2633472" cy="265176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7EF0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6776" y="3246120"/>
            <a:ext cx="64008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08483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Standardize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347472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A7BF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377440"/>
            <a:ext cx="2633472" cy="265176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74320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7EF0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246120"/>
            <a:ext cx="64008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474720"/>
            <a:ext cx="208483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Build reusable prompt libraries and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47472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A7BFF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377440"/>
            <a:ext cx="2633472" cy="265176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274320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7EF0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246120"/>
            <a:ext cx="64008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474720"/>
            <a:ext cx="208483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Automate report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7472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A7BFF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377440"/>
            <a:ext cx="2633472" cy="265176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274320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7EF0FF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48672" y="3246120"/>
            <a:ext cx="640080" cy="254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3474720"/>
            <a:ext cx="208483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Expand into agent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13 / 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31" name="Block Arc 30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12 • 30-DAY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Good Looks Like in 30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37744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One defined workflow per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14400" y="320040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Shared prompt wins across the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14400" y="402336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Repeatable processes in Purchasing and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10911535" cy="658368"/>
          </a:xfrm>
          <a:prstGeom prst="roundRect">
            <a:avLst/>
          </a:prstGeom>
          <a:solidFill>
            <a:srgbClr val="0C1230"/>
          </a:solidFill>
          <a:ln w="63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914400" y="4846320"/>
            <a:ext cx="201168" cy="201168"/>
          </a:xfrm>
          <a:prstGeom prst="diamond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99971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4F5"/>
                </a:solidFill>
                <a:latin typeface="Calibri"/>
              </a:rPr>
              <a:t>Better leadership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14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4" name="Block Arc 23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13 •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From Reports to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429000" cy="2926080"/>
          </a:xfrm>
          <a:prstGeom prst="roundRect">
            <a:avLst/>
          </a:prstGeom>
          <a:solidFill>
            <a:srgbClr val="0C1230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8EA0D6"/>
                </a:solidFill>
                <a:latin typeface="Calibri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8820" y="3474720"/>
            <a:ext cx="731520" cy="254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Manual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74904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9A7BF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560320"/>
            <a:ext cx="3429000" cy="2926080"/>
          </a:xfrm>
          <a:prstGeom prst="roundRect">
            <a:avLst/>
          </a:prstGeom>
          <a:solidFill>
            <a:srgbClr val="0C1230"/>
          </a:solidFill>
          <a:ln w="19050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971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7EF0FF"/>
                </a:solidFill>
                <a:latin typeface="Calibri"/>
              </a:rPr>
              <a:t>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83580" y="3474720"/>
            <a:ext cx="731520" cy="254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65760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AI summary and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4904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9A7BF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560320"/>
            <a:ext cx="3429000" cy="2926080"/>
          </a:xfrm>
          <a:prstGeom prst="roundRect">
            <a:avLst/>
          </a:prstGeom>
          <a:solidFill>
            <a:srgbClr val="0C1230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71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400">
                <a:solidFill>
                  <a:srgbClr val="9A7BFF"/>
                </a:solidFill>
                <a:latin typeface="Calibri"/>
              </a:rPr>
              <a:t>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78340" y="3474720"/>
            <a:ext cx="731520" cy="254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Faster decisions,</a:t>
            </a:r>
          </a:p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fewer misses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15 /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8420"/>
            <a:ext cx="10911535" cy="9525"/>
          </a:xfrm>
          <a:prstGeom prst="rect">
            <a:avLst/>
          </a:prstGeom>
          <a:solidFill>
            <a:srgbClr val="9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 •  HOW TO USE CHATGPT IN THE FASTENER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D6EA8"/>
                </a:solidFill>
                <a:latin typeface="Calibri"/>
              </a:rPr>
              <a:t>ACCUTITE FASTENERS, INC.</a:t>
            </a:r>
          </a:p>
        </p:txBody>
      </p:sp>
      <p:sp>
        <p:nvSpPr>
          <p:cNvPr id="26" name="Block Arc 25"/>
          <p:cNvSpPr/>
          <p:nvPr/>
        </p:nvSpPr>
        <p:spPr>
          <a:xfrm>
            <a:off x="10611612" y="365760"/>
            <a:ext cx="905256" cy="452628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11471605" y="433654"/>
            <a:ext cx="99578" cy="99578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8641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1750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B1C"/>
            </a:gs>
            <a:gs pos="100000">
              <a:srgbClr val="04060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365760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4572000" cy="3200400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3840480" cy="5029200"/>
          </a:xfrm>
          <a:prstGeom prst="roundRect">
            <a:avLst/>
          </a:prstGeom>
          <a:gradFill flip="none" rotWithShape="1">
            <a:gsLst>
              <a:gs pos="0">
                <a:srgbClr val="0C1230"/>
              </a:gs>
              <a:gs pos="100000">
                <a:srgbClr val="04060F"/>
              </a:gs>
            </a:gsLst>
            <a:lin ang="8100000" scaled="0"/>
          </a:gradFill>
          <a:ln w="15875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457200"/>
            <a:ext cx="3456432" cy="3456432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76272" y="3680460"/>
            <a:ext cx="3072384" cy="3072384"/>
          </a:xfrm>
          <a:prstGeom prst="ellipse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188" y="1819656"/>
            <a:ext cx="2112264" cy="2112264"/>
          </a:xfrm>
          <a:prstGeom prst="roundRect">
            <a:avLst/>
          </a:prstGeom>
          <a:gradFill flip="none" rotWithShape="1">
            <a:gsLst>
              <a:gs pos="0">
                <a:srgbClr val="121A44"/>
              </a:gs>
              <a:gs pos="100000">
                <a:srgbClr val="04060F"/>
              </a:gs>
            </a:gsLst>
            <a:lin ang="8100000" scaled="0"/>
          </a:gra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4188" y="1819656"/>
            <a:ext cx="2112264" cy="2112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0" b="1" i="0" spc="100">
                <a:solidFill>
                  <a:srgbClr val="FFFFFF"/>
                </a:solidFill>
                <a:latin typeface="Calibri"/>
              </a:rPr>
              <a:t>LH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0260" y="4114800"/>
            <a:ext cx="960120" cy="38100"/>
          </a:xfrm>
          <a:prstGeom prst="rect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LEVEE HEDRICK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400">
                <a:solidFill>
                  <a:srgbClr val="7EF0FF"/>
                </a:solidFill>
                <a:latin typeface="Calibri"/>
              </a:rPr>
              <a:t>MATERIAL CONTROL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 spc="300">
                <a:solidFill>
                  <a:srgbClr val="8EA0D6"/>
                </a:solidFill>
                <a:latin typeface="Calibri"/>
              </a:rPr>
              <a:t>Accutite Fasteners, Inc.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0515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70B1C"/>
          </a:solidFill>
          <a:ln w="9525">
            <a:solidFill>
              <a:srgbClr val="38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05156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7EF0FF"/>
                </a:solidFill>
                <a:latin typeface="Calibri"/>
              </a:rPr>
              <a:t>CALL TO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Become Operators,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3774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7EF0FF"/>
                </a:solidFill>
                <a:latin typeface="Calibri"/>
              </a:rPr>
              <a:t>Not Observers.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383280"/>
            <a:ext cx="1097280" cy="508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3657600"/>
            <a:ext cx="6583680" cy="2011680"/>
          </a:xfrm>
          <a:prstGeom prst="roundRect">
            <a:avLst/>
          </a:prstGeom>
          <a:solidFill>
            <a:srgbClr val="0C1230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7EF0FF"/>
                </a:solidFill>
                <a:latin typeface="Calibri"/>
              </a:rPr>
              <a:t>LED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862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Levee Hedrick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4348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7EF0FF"/>
                </a:solidFill>
                <a:latin typeface="Calibri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4348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Material Control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983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7EF0FF"/>
                </a:solidFill>
                <a:latin typeface="Calibri"/>
              </a:rPr>
              <a:t>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83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Driving AI adoption across Purchasing &amp; Quality</a:t>
            </a:r>
          </a:p>
        </p:txBody>
      </p:sp>
      <p:sp>
        <p:nvSpPr>
          <p:cNvPr id="25" name="Block Arc 24"/>
          <p:cNvSpPr/>
          <p:nvPr/>
        </p:nvSpPr>
        <p:spPr>
          <a:xfrm>
            <a:off x="10277856" y="6080760"/>
            <a:ext cx="1207008" cy="603504"/>
          </a:xfrm>
          <a:prstGeom prst="blockArc">
            <a:avLst/>
          </a:prstGeom>
          <a:gradFill flip="none" rotWithShape="1">
            <a:gsLst>
              <a:gs pos="0">
                <a:srgbClr val="38E0FF"/>
              </a:gs>
              <a:gs pos="100000">
                <a:srgbClr val="7C4D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11424513" y="6171285"/>
            <a:ext cx="132770" cy="132770"/>
          </a:xfrm>
          <a:prstGeom prst="diamond">
            <a:avLst/>
          </a:prstGeom>
          <a:solidFill>
            <a:srgbClr val="38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72998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450">
                <a:solidFill>
                  <a:srgbClr val="FFFFFF"/>
                </a:solidFill>
                <a:latin typeface="Calibri"/>
              </a:rPr>
              <a:t>ACCUTITE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70408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600">
                <a:solidFill>
                  <a:srgbClr val="8EA0D6"/>
                </a:solidFill>
                <a:latin typeface="Calibri"/>
              </a:rPr>
              <a:t>FASTENERS INC.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5D6EA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