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500">
                <a:solidFill>
                  <a:srgbClr val="7EF0FF"/>
                </a:solidFill>
                <a:latin typeface="Calibri"/>
              </a:rPr>
              <a:t>ACCUTITE FASTENERS, INC.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589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How to Use ChatGPT in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7589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9A7BFF"/>
                </a:solidFill>
                <a:latin typeface="Calibri"/>
              </a:rPr>
              <a:t>Fastener Industry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1097280" cy="508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Levee Hedrick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8EA0D6"/>
                </a:solidFill>
                <a:latin typeface="Calibri"/>
              </a:rPr>
              <a:t>MATERIAL CONTROL 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188720"/>
            <a:ext cx="3291840" cy="4754880"/>
          </a:xfrm>
          <a:prstGeom prst="roundRect">
            <a:avLst/>
          </a:prstGeom>
          <a:solidFill>
            <a:srgbClr val="0C1230"/>
          </a:solidFill>
          <a:ln w="1587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0" y="1371600"/>
            <a:ext cx="2926080" cy="4389120"/>
          </a:xfrm>
          <a:prstGeom prst="roundRect">
            <a:avLst/>
          </a:prstGeom>
          <a:noFill/>
          <a:ln w="6350">
            <a:solidFill>
              <a:srgbClr val="9A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300">
                <a:solidFill>
                  <a:srgbClr val="8EA0D6"/>
                </a:solidFill>
                <a:latin typeface="Calibri"/>
              </a:rPr>
              <a:t>HERO PORTRAIT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6035040"/>
            <a:ext cx="2194560" cy="64008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6060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63550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01 •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New Operating System for Fastener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4400" y="237744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ChatGPT is a daily work amplifier for the fastener industry.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7180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320040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Focus on speed, consistency, and better decisions.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914400" y="402336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Shift from casual use to disciplined adoption.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02 / 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02 •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Why This Matters at Accutite Right 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4400" y="237744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AI understanding is inconsistent across the team.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7180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320040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Standardization matters more than random LLM experimentation.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914400" y="402336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Paid accounts should create measurable operational value.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03 / 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03 • SURFACE AREA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Where ChatGPT Fits in Our Daily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2084832" cy="731520"/>
          </a:xfrm>
          <a:prstGeom prst="roundRect">
            <a:avLst>
              <a:gd name="adj" fmla="val 50000"/>
            </a:avLst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Emails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3512" y="2743200"/>
            <a:ext cx="2084832" cy="731520"/>
          </a:xfrm>
          <a:prstGeom prst="roundRect">
            <a:avLst>
              <a:gd name="adj" fmla="val 50000"/>
            </a:avLst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2743200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Quotes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66944" y="2743200"/>
            <a:ext cx="1755648" cy="731520"/>
          </a:xfrm>
          <a:prstGeom prst="roundRect">
            <a:avLst>
              <a:gd name="adj" fmla="val 50000"/>
            </a:avLst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2743200"/>
            <a:ext cx="175564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PDFs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2743200"/>
            <a:ext cx="2414015" cy="731520"/>
          </a:xfrm>
          <a:prstGeom prst="roundRect">
            <a:avLst>
              <a:gd name="adj" fmla="val 50000"/>
            </a:avLst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51192" y="2743200"/>
            <a:ext cx="24140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Drawings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40"/>
            <a:ext cx="2743200" cy="731520"/>
          </a:xfrm>
          <a:prstGeom prst="roundRect">
            <a:avLst>
              <a:gd name="adj" fmla="val 50000"/>
            </a:avLst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4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Blueprints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1880" y="3749040"/>
            <a:ext cx="3895344" cy="731520"/>
          </a:xfrm>
          <a:prstGeom prst="roundRect">
            <a:avLst>
              <a:gd name="adj" fmla="val 50000"/>
            </a:avLst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749040"/>
            <a:ext cx="389534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Quality Documents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047488" cy="731520"/>
          </a:xfrm>
          <a:prstGeom prst="roundRect">
            <a:avLst>
              <a:gd name="adj" fmla="val 50000"/>
            </a:avLst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5047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Purchasing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04 / 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04 • DEPARTMENT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Purchasing Department Use Cases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7180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Supplier email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7744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97180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10896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Quote comparison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6908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51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6344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PDF data extraction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06908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51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466344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80060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Supplier follow-up drafting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05 / 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05 • DEPARTMENT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Quality Department Use Cases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7180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Summarize inspection and corrective action documents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7744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97180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10896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Review drawings and blueprint notes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6908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51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6344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Compare document versions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069080"/>
            <a:ext cx="5349240" cy="14630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51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7EF0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4663440"/>
            <a:ext cx="45720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80060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Generate action checklists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06 / 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06 • TECHNICAL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Working with Drawings, Blueprints, and PDFs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4400" y="237744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Summarize technical documents at a glance.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7180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320040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Extract revision notes and requirements.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914400" y="402336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Support triage before expert approval.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914400" y="484632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61772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Preserve human technical authority.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07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07 •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From Reports to KPIs Without ERP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4400" y="237744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Analyze exported reports directly in ChatGPT.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7180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320040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Summarize KPI trends across periods.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914400" y="402336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Detect exceptions and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914400" y="484632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61772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Create management-ready insights.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08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08 •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Prompt Engineering for the Fastener Industry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4400" y="237744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Define role, task, context, format, and criteria.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7180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320040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Use repeatable prompting frameworks.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914400" y="402336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Emphasize quality and consistency over cleverness.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09 / 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09 • LIVE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Real Example — Quote Review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10911535" cy="3657600"/>
          </a:xfrm>
          <a:prstGeom prst="roundRect">
            <a:avLst/>
          </a:prstGeom>
          <a:solidFill>
            <a:srgbClr val="04060F"/>
          </a:solidFill>
          <a:ln w="12700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606040"/>
            <a:ext cx="164592" cy="164592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2606040"/>
            <a:ext cx="164592" cy="164592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8760" y="2606040"/>
            <a:ext cx="164592" cy="164592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9814255" cy="2560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7EF0FF"/>
                </a:solidFill>
                <a:latin typeface="Consolas"/>
              </a:rPr>
              <a:t>Role:   Senior Purchasing Analyst</a:t>
            </a:r>
          </a:p>
          <a:p>
            <a:pPr algn="l">
              <a:lnSpc>
                <a:spcPct val="135000"/>
              </a:lnSpc>
            </a:pPr>
            <a:r>
              <a:rPr sz="1800" b="1">
                <a:solidFill>
                  <a:srgbClr val="7EF0FF"/>
                </a:solidFill>
                <a:latin typeface="Consolas"/>
              </a:rPr>
              <a:t>Task:   Review attached supplier quote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C9D4F5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800" b="1">
                <a:solidFill>
                  <a:srgbClr val="7EF0FF"/>
                </a:solidFill>
                <a:latin typeface="Consolas"/>
              </a:rPr>
              <a:t>Output: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C9D4F5"/>
                </a:solidFill>
                <a:latin typeface="Consolas"/>
              </a:rPr>
              <a:t>  - Pricing changes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C9D4F5"/>
                </a:solidFill>
                <a:latin typeface="Consolas"/>
              </a:rPr>
              <a:t>  - Lead time risks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C9D4F5"/>
                </a:solidFill>
                <a:latin typeface="Consolas"/>
              </a:rPr>
              <a:t>  - Missing information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C9D4F5"/>
                </a:solidFill>
                <a:latin typeface="Consolas"/>
              </a:rPr>
              <a:t>  - Recommended next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10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10 • BUILD ONCE, REUSE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Building GPT Agents and Reusable Skills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5349240" cy="23774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400">
                <a:solidFill>
                  <a:srgbClr val="7EF0FF"/>
                </a:solidFill>
                <a:latin typeface="Calibri"/>
              </a:rPr>
              <a:t>AGENTS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200400"/>
            <a:ext cx="73152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83280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Task-specific helpers tuned for a single recurring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77440"/>
            <a:ext cx="5349240" cy="237744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6974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400">
                <a:solidFill>
                  <a:srgbClr val="7EF0FF"/>
                </a:solidFill>
                <a:latin typeface="Calibri"/>
              </a:rPr>
              <a:t>SKILLS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3200400"/>
            <a:ext cx="73152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383280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Reusable workflow playbooks applied across many tasks.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29200"/>
            <a:ext cx="10911535" cy="68580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 spc="200">
                <a:solidFill>
                  <a:srgbClr val="FFFFFF"/>
                </a:solidFill>
                <a:latin typeface="Calibri"/>
              </a:rPr>
              <a:t>Quote review   •   PDF extraction   •   Quality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11 / 16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7315200" cy="91440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0" y="2743200"/>
            <a:ext cx="7315200" cy="64008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3840480" cy="5029200"/>
          </a:xfrm>
          <a:prstGeom prst="roundRect">
            <a:avLst/>
          </a:prstGeom>
          <a:solidFill>
            <a:srgbClr val="0C1230"/>
          </a:solidFill>
          <a:ln w="1587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097280"/>
            <a:ext cx="3474720" cy="4663440"/>
          </a:xfrm>
          <a:prstGeom prst="roundRect">
            <a:avLst/>
          </a:prstGeom>
          <a:noFill/>
          <a:ln w="6350">
            <a:solidFill>
              <a:srgbClr val="9A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300">
                <a:solidFill>
                  <a:srgbClr val="8EA0D6"/>
                </a:solidFill>
                <a:latin typeface="Calibri"/>
              </a:rPr>
              <a:t>SIDE PROFILE / FULL BODY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28600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28600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PART TWO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Operationalizing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61188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9A7BFF"/>
                </a:solidFill>
                <a:latin typeface="Calibri"/>
              </a:rPr>
              <a:t>at Accutite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617720"/>
            <a:ext cx="1188720" cy="508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4754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8EA0D6"/>
                </a:solidFill>
                <a:latin typeface="Calibri"/>
              </a:rPr>
              <a:t>FROM AWARENESS TO EXECUTION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126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 spc="500">
                <a:solidFill>
                  <a:srgbClr val="5D6EA8"/>
                </a:solidFill>
                <a:latin typeface="Calibri"/>
              </a:rPr>
              <a:t>ACCUTITE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11 •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Automation Roadmap: Start Small, Win Fast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2633472" cy="265176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2633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400">
                <a:solidFill>
                  <a:srgbClr val="7EF0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36776" y="3246120"/>
            <a:ext cx="64008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20848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Standardize prompts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2696" y="3474720"/>
            <a:ext cx="137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9A7BFF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377440"/>
            <a:ext cx="2633472" cy="265176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2743200"/>
            <a:ext cx="2633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400">
                <a:solidFill>
                  <a:srgbClr val="7EF0FF"/>
                </a:solidFill>
                <a:latin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3246120"/>
            <a:ext cx="64008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474720"/>
            <a:ext cx="20848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Build reusable prompt libraries and 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474720"/>
            <a:ext cx="137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9A7BFF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2377440"/>
            <a:ext cx="2633472" cy="265176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1344" y="2743200"/>
            <a:ext cx="2633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400">
                <a:solidFill>
                  <a:srgbClr val="7EF0FF"/>
                </a:solidFill>
                <a:latin typeface="Calibri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3246120"/>
            <a:ext cx="64008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474720"/>
            <a:ext cx="20848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Automate report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474720"/>
            <a:ext cx="137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9A7BFF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2377440"/>
            <a:ext cx="2633472" cy="265176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2743200"/>
            <a:ext cx="2633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400">
                <a:solidFill>
                  <a:srgbClr val="7EF0FF"/>
                </a:solidFill>
                <a:latin typeface="Calibri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48672" y="3246120"/>
            <a:ext cx="640080" cy="254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296" y="3474720"/>
            <a:ext cx="20848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Expand into agent workflows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13 / 16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12 • 30-DAY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What Good Looks Like in 30 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4400" y="237744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One defined workflow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7180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320040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Shared prompt wins across the team.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914400" y="402336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Repeatable processes in Purchasing and Quality.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10911535" cy="658368"/>
          </a:xfrm>
          <a:prstGeom prst="roundRect">
            <a:avLst/>
          </a:prstGeom>
          <a:solidFill>
            <a:srgbClr val="0C1230"/>
          </a:solidFill>
          <a:ln w="63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914400" y="4846320"/>
            <a:ext cx="201168" cy="201168"/>
          </a:xfrm>
          <a:prstGeom prst="diamond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617720"/>
            <a:ext cx="999713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4F5"/>
                </a:solidFill>
                <a:latin typeface="Calibri"/>
              </a:rPr>
              <a:t>Better leadership reporting.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14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13 •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From Reports to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822960" cy="381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3429000" cy="2926080"/>
          </a:xfrm>
          <a:prstGeom prst="roundRect">
            <a:avLst/>
          </a:prstGeom>
          <a:solidFill>
            <a:srgbClr val="0C1230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400">
                <a:solidFill>
                  <a:srgbClr val="8EA0D6"/>
                </a:solidFill>
                <a:latin typeface="Calibri"/>
              </a:rPr>
              <a:t>BEFORE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8820" y="3474720"/>
            <a:ext cx="731520" cy="254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Manual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74904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9A7BFF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560320"/>
            <a:ext cx="3429000" cy="2926080"/>
          </a:xfrm>
          <a:prstGeom prst="roundRect">
            <a:avLst/>
          </a:prstGeom>
          <a:solidFill>
            <a:srgbClr val="0C1230"/>
          </a:solidFill>
          <a:ln w="19050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97180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400">
                <a:solidFill>
                  <a:srgbClr val="7EF0FF"/>
                </a:solidFill>
                <a:latin typeface="Calibri"/>
              </a:rPr>
              <a:t>AFTER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83580" y="3474720"/>
            <a:ext cx="731520" cy="254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365760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AI summary and flags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4904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9A7BF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560320"/>
            <a:ext cx="3429000" cy="2926080"/>
          </a:xfrm>
          <a:prstGeom prst="roundRect">
            <a:avLst/>
          </a:prstGeom>
          <a:solidFill>
            <a:srgbClr val="0C1230"/>
          </a:solidFill>
          <a:ln w="1905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97180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400">
                <a:solidFill>
                  <a:srgbClr val="9A7BFF"/>
                </a:solidFill>
                <a:latin typeface="Calibri"/>
              </a:rPr>
              <a:t>OUTCOME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78340" y="3474720"/>
            <a:ext cx="731520" cy="25400"/>
          </a:xfrm>
          <a:prstGeom prst="rect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65760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Faster decisions,</a:t>
            </a:r>
          </a:p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fewer misses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15 / 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08420"/>
            <a:ext cx="10911535" cy="9525"/>
          </a:xfrm>
          <a:prstGeom prst="rect">
            <a:avLst/>
          </a:prstGeom>
          <a:solidFill>
            <a:srgbClr val="9A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 •  HOW TO USE CHATGPT IN THE FASTENER INDUSTRY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5D6EA8"/>
                </a:solidFill>
                <a:latin typeface="Calibri"/>
              </a:rPr>
              <a:t>ACCUTITE FASTENERS, INC.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0" y="320040"/>
            <a:ext cx="1645920" cy="50292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34544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571500"/>
            <a:ext cx="1645920" cy="251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70B1C"/>
            </a:gs>
            <a:gs pos="100000">
              <a:srgbClr val="04060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572000" cy="365760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4572000" cy="3200400"/>
          </a:xfrm>
          <a:prstGeom prst="ellipse">
            <a:avLst/>
          </a:prstGeom>
          <a:solidFill>
            <a:srgbClr val="38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3840480" cy="5029200"/>
          </a:xfrm>
          <a:prstGeom prst="roundRect">
            <a:avLst/>
          </a:prstGeom>
          <a:solidFill>
            <a:srgbClr val="0C1230"/>
          </a:solidFill>
          <a:ln w="1587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097280"/>
            <a:ext cx="3474720" cy="4663440"/>
          </a:xfrm>
          <a:prstGeom prst="roundRect">
            <a:avLst/>
          </a:prstGeom>
          <a:noFill/>
          <a:ln w="6350">
            <a:solidFill>
              <a:srgbClr val="9A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300">
                <a:solidFill>
                  <a:srgbClr val="8EA0D6"/>
                </a:solidFill>
                <a:latin typeface="Calibri"/>
              </a:rPr>
              <a:t>CLOSING PORTRAIT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05156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70B1C"/>
          </a:solidFill>
          <a:ln w="9525">
            <a:solidFill>
              <a:srgbClr val="38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05156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00">
                <a:solidFill>
                  <a:srgbClr val="7EF0FF"/>
                </a:solidFill>
                <a:latin typeface="Calibri"/>
              </a:rPr>
              <a:t>CALL TO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5448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Become Operators,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37744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7EF0FF"/>
                </a:solidFill>
                <a:latin typeface="Calibri"/>
              </a:rPr>
              <a:t>Not Observers.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3383280"/>
            <a:ext cx="1097280" cy="508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37760" y="3657600"/>
            <a:ext cx="6583680" cy="2011680"/>
          </a:xfrm>
          <a:prstGeom prst="roundRect">
            <a:avLst/>
          </a:prstGeom>
          <a:solidFill>
            <a:srgbClr val="0C1230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388620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400">
                <a:solidFill>
                  <a:srgbClr val="7EF0FF"/>
                </a:solidFill>
                <a:latin typeface="Calibri"/>
              </a:rPr>
              <a:t>LED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886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Levee Hedrick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4348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400">
                <a:solidFill>
                  <a:srgbClr val="7EF0FF"/>
                </a:solidFill>
                <a:latin typeface="Calibri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434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Material Control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98348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400">
                <a:solidFill>
                  <a:srgbClr val="7EF0FF"/>
                </a:solidFill>
                <a:latin typeface="Calibri"/>
              </a:rPr>
              <a:t>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983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Driving AI adoption across Purchasing &amp; Quality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6035040"/>
            <a:ext cx="2194560" cy="640080"/>
          </a:xfrm>
          <a:prstGeom prst="roundRect">
            <a:avLst/>
          </a:prstGeom>
          <a:solidFill>
            <a:srgbClr val="0C1230"/>
          </a:solidFill>
          <a:ln w="9525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6060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 spc="400">
                <a:solidFill>
                  <a:srgbClr val="FFFFFF"/>
                </a:solidFill>
                <a:latin typeface="Calibri"/>
              </a:rPr>
              <a:t>ACCUTITE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63550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500">
                <a:solidFill>
                  <a:srgbClr val="8EA0D6"/>
                </a:solidFill>
                <a:latin typeface="Calibri"/>
              </a:rPr>
              <a:t>FASTENERS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3200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300">
                <a:solidFill>
                  <a:srgbClr val="5D6EA8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